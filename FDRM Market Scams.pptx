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skyline.png"/>
          <p:cNvPicPr>
            <a:picLocks noChangeAspect="1"/>
          </p:cNvPicPr>
          <p:nvPr/>
        </p:nvPicPr>
        <p:blipFill>
          <a:blip r:embed="rId2"/>
          <a:srcRect t="780" b="78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10512"/>
            <a:ext cx="100584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 dirty="0">
                <a:solidFill>
                  <a:srgbClr val="FFFFFF"/>
                </a:solidFill>
                <a:latin typeface="Segoe UI"/>
              </a:rPr>
              <a:t>India's Biggest Market Scams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6B1330-CB66-5227-0B10-1C47BF6E5DE2}"/>
              </a:ext>
            </a:extLst>
          </p:cNvPr>
          <p:cNvGrpSpPr/>
          <p:nvPr/>
        </p:nvGrpSpPr>
        <p:grpSpPr>
          <a:xfrm>
            <a:off x="438912" y="3099816"/>
            <a:ext cx="11494008" cy="1938528"/>
            <a:chOff x="914400" y="4343400"/>
            <a:chExt cx="10241279" cy="1234440"/>
          </a:xfrm>
        </p:grpSpPr>
        <p:sp>
          <p:nvSpPr>
            <p:cNvPr id="8" name="Rounded Rectangle 7"/>
            <p:cNvSpPr/>
            <p:nvPr/>
          </p:nvSpPr>
          <p:spPr>
            <a:xfrm>
              <a:off x="914400" y="4343400"/>
              <a:ext cx="3200400" cy="1234440"/>
            </a:xfrm>
            <a:prstGeom prst="roundRect">
              <a:avLst>
                <a:gd name="adj" fmla="val 8000"/>
              </a:avLst>
            </a:prstGeom>
            <a:solidFill>
              <a:srgbClr val="1630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914400" y="4343400"/>
              <a:ext cx="64008" cy="1234440"/>
            </a:xfrm>
            <a:prstGeom prst="rect">
              <a:avLst/>
            </a:prstGeom>
            <a:solidFill>
              <a:srgbClr val="F2B1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70432" y="4590288"/>
              <a:ext cx="2834640" cy="1567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600" b="1" i="0">
                  <a:solidFill>
                    <a:srgbClr val="FFFFFF"/>
                  </a:solidFill>
                  <a:latin typeface="Segoe UI"/>
                </a:rPr>
                <a:t>1992 Harshad Mehta Scam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70432" y="5010912"/>
              <a:ext cx="2880360" cy="1567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600" b="0" i="0">
                  <a:solidFill>
                    <a:srgbClr val="B8C6D6"/>
                  </a:solidFill>
                  <a:latin typeface="Segoe UI"/>
                </a:rPr>
                <a:t>Ready Forward Deals  |  CRR / SLR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434840" y="4343400"/>
              <a:ext cx="3200400" cy="1234440"/>
            </a:xfrm>
            <a:prstGeom prst="roundRect">
              <a:avLst>
                <a:gd name="adj" fmla="val 8000"/>
              </a:avLst>
            </a:prstGeom>
            <a:solidFill>
              <a:srgbClr val="1630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34840" y="4343400"/>
              <a:ext cx="64008" cy="1234440"/>
            </a:xfrm>
            <a:prstGeom prst="rect">
              <a:avLst/>
            </a:prstGeom>
            <a:solidFill>
              <a:srgbClr val="E85D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90872" y="4590288"/>
              <a:ext cx="2834640" cy="1567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600" b="1" i="0">
                  <a:solidFill>
                    <a:srgbClr val="FFFFFF"/>
                  </a:solidFill>
                  <a:latin typeface="Segoe UI"/>
                </a:rPr>
                <a:t>Satyam Scam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90872" y="5010912"/>
              <a:ext cx="2880360" cy="1567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600" b="0" i="0" dirty="0">
                  <a:solidFill>
                    <a:srgbClr val="B8C6D6"/>
                  </a:solidFill>
                  <a:latin typeface="Segoe UI"/>
                </a:rPr>
                <a:t>7 Jan 2009  |  Rs </a:t>
              </a:r>
              <a:r>
                <a:rPr lang="en-IN" sz="1600" dirty="0">
                  <a:solidFill>
                    <a:srgbClr val="B8C6D6"/>
                  </a:solidFill>
                  <a:latin typeface="Segoe UI"/>
                </a:rPr>
                <a:t>7</a:t>
              </a:r>
              <a:r>
                <a:rPr lang="en-IN" sz="1600" b="0" i="0" dirty="0">
                  <a:solidFill>
                    <a:srgbClr val="B8C6D6"/>
                  </a:solidFill>
                  <a:latin typeface="Segoe UI"/>
                </a:rPr>
                <a:t>,</a:t>
              </a:r>
              <a:r>
                <a:rPr sz="1600" b="0" i="0" dirty="0">
                  <a:solidFill>
                    <a:srgbClr val="B8C6D6"/>
                  </a:solidFill>
                  <a:latin typeface="Segoe UI"/>
                </a:rPr>
                <a:t>000 Cr</a:t>
              </a:r>
              <a:r>
                <a:rPr lang="en-IN" sz="1600" b="0" i="0" dirty="0">
                  <a:solidFill>
                    <a:srgbClr val="B8C6D6"/>
                  </a:solidFill>
                  <a:latin typeface="Segoe UI"/>
                </a:rPr>
                <a:t>+</a:t>
              </a:r>
              <a:endParaRPr sz="1600" b="0" i="0" dirty="0">
                <a:solidFill>
                  <a:srgbClr val="B8C6D6"/>
                </a:solidFill>
                <a:latin typeface="Segoe UI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955279" y="4343400"/>
              <a:ext cx="3200400" cy="1234440"/>
            </a:xfrm>
            <a:prstGeom prst="roundRect">
              <a:avLst>
                <a:gd name="adj" fmla="val 8000"/>
              </a:avLst>
            </a:prstGeom>
            <a:solidFill>
              <a:srgbClr val="1630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955279" y="4343400"/>
              <a:ext cx="64008" cy="1234440"/>
            </a:xfrm>
            <a:prstGeom prst="rect">
              <a:avLst/>
            </a:prstGeom>
            <a:solidFill>
              <a:srgbClr val="3DD6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211311" y="4590288"/>
              <a:ext cx="2834640" cy="1567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600" b="1" i="0">
                  <a:solidFill>
                    <a:srgbClr val="FFFFFF"/>
                  </a:solidFill>
                  <a:latin typeface="Segoe UI"/>
                </a:rPr>
                <a:t>Jane Street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11311" y="5010912"/>
              <a:ext cx="2880360" cy="1567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600" b="0" i="0" dirty="0">
                  <a:solidFill>
                    <a:srgbClr val="B8C6D6"/>
                  </a:solidFill>
                  <a:latin typeface="Segoe UI"/>
                </a:rPr>
                <a:t>Rs 40,000 Cr  |  Index manipulation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778240" y="5989320"/>
            <a:ext cx="2926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n-IN" sz="1200" dirty="0">
                <a:solidFill>
                  <a:srgbClr val="F2B137"/>
                </a:solidFill>
                <a:latin typeface="Segoe UI"/>
              </a:rPr>
              <a:t>20</a:t>
            </a:r>
            <a:r>
              <a:rPr sz="1200" b="0" i="0" dirty="0">
                <a:solidFill>
                  <a:srgbClr val="F2B137"/>
                </a:solidFill>
                <a:latin typeface="Segoe UI"/>
              </a:rPr>
              <a:t> / 08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685800"/>
          </a:xfrm>
          <a:prstGeom prst="rect">
            <a:avLst/>
          </a:prstGeom>
          <a:solidFill>
            <a:srgbClr val="F2B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1992 - The Harshad Mehta Scam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59536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B8C6D6"/>
                </a:solidFill>
                <a:latin typeface="Segoe UI"/>
              </a:rPr>
              <a:t>Ready Forward Deals: Cash &lt;-&gt; Bank Receipt   |   The index became 4x   |   "The Big Bull"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55680" cy="18288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B137"/>
                </a:solidFill>
                <a:latin typeface="Segoe UI"/>
              </a:rPr>
              <a:t>BANKS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2194560" cy="520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 dirty="0">
                <a:solidFill>
                  <a:srgbClr val="B8C6D6"/>
                </a:solidFill>
                <a:latin typeface="Segoe UI"/>
              </a:rPr>
              <a:t>Ready Forward deals</a:t>
            </a:r>
          </a:p>
          <a:p>
            <a:pPr algn="l">
              <a:spcAft>
                <a:spcPts val="100"/>
              </a:spcAft>
            </a:pPr>
            <a:r>
              <a:rPr sz="1100" b="0" i="0" dirty="0">
                <a:solidFill>
                  <a:srgbClr val="B8C6D6"/>
                </a:solidFill>
                <a:latin typeface="Segoe UI"/>
              </a:rPr>
              <a:t>run between banks</a:t>
            </a:r>
            <a:r>
              <a:rPr lang="en-IN" sz="1100" b="0" i="0" dirty="0">
                <a:solidFill>
                  <a:srgbClr val="B8C6D6"/>
                </a:solidFill>
                <a:latin typeface="Segoe UI"/>
              </a:rPr>
              <a:t> (Short Term 15 Days Interbank Lending)</a:t>
            </a:r>
            <a:endParaRPr sz="1100" b="0" i="0" dirty="0">
              <a:solidFill>
                <a:srgbClr val="B8C6D6"/>
              </a:solidFill>
              <a:latin typeface="Segoe UI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163824" y="2139696"/>
            <a:ext cx="201168" cy="256032"/>
          </a:xfrm>
          <a:prstGeom prst="rightArrow">
            <a:avLst/>
          </a:prstGeom>
          <a:solidFill>
            <a:srgbClr val="F2B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19856" y="1572768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2E2A14"/>
          </a:solidFill>
          <a:ln w="19050">
            <a:solidFill>
              <a:srgbClr val="F2B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48456" y="17647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B137"/>
                </a:solidFill>
                <a:latin typeface="Segoe UI"/>
              </a:rPr>
              <a:t>BANK RECEIPT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17627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BR issued without the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actual securities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2139696"/>
            <a:ext cx="201168" cy="256032"/>
          </a:xfrm>
          <a:prstGeom prst="rightArrow">
            <a:avLst/>
          </a:prstGeom>
          <a:solidFill>
            <a:srgbClr val="F2B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91072" y="1572768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7647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B137"/>
                </a:solidFill>
                <a:latin typeface="Segoe UI"/>
              </a:rPr>
              <a:t>CASH ROUTED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17627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Bank funds diverted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into the stock market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06256" y="2139696"/>
            <a:ext cx="201168" cy="256032"/>
          </a:xfrm>
          <a:prstGeom prst="rightArrow">
            <a:avLst/>
          </a:prstGeom>
          <a:solidFill>
            <a:srgbClr val="F2B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62288" y="1572768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4A1F1F"/>
          </a:solidFill>
          <a:ln w="19050">
            <a:solidFill>
              <a:srgbClr val="E8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90888" y="17647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B137"/>
                </a:solidFill>
                <a:latin typeface="Segoe UI"/>
              </a:rPr>
              <a:t>INDEX 4x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17627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Index pumped, then it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collapsed on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18688"/>
            <a:ext cx="66751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3DD6C4"/>
                </a:solidFill>
                <a:latin typeface="Segoe UI"/>
              </a:rPr>
              <a:t>THE TWO RATIO</a:t>
            </a:r>
            <a:r>
              <a:rPr lang="en-IN" sz="1400" b="1" dirty="0">
                <a:solidFill>
                  <a:srgbClr val="3DD6C4"/>
                </a:solidFill>
                <a:latin typeface="Segoe UI"/>
              </a:rPr>
              <a:t>S</a:t>
            </a:r>
            <a:r>
              <a:rPr sz="1400" b="1" i="0" dirty="0">
                <a:solidFill>
                  <a:srgbClr val="3DD6C4"/>
                </a:solidFill>
                <a:latin typeface="Segoe UI"/>
              </a:rPr>
              <a:t> HE EXPLOITED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39312"/>
            <a:ext cx="6675120" cy="804672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639312"/>
            <a:ext cx="54864" cy="804672"/>
          </a:xfrm>
          <a:prstGeom prst="rect">
            <a:avLst/>
          </a:prstGeom>
          <a:solidFill>
            <a:srgbClr val="3D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758184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DD6C4"/>
                </a:solidFill>
                <a:latin typeface="Segoe UI"/>
              </a:rPr>
              <a:t>CRR - Cash Reserve 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078224"/>
            <a:ext cx="630936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B8C6D6"/>
                </a:solidFill>
                <a:latin typeface="Segoe UI"/>
              </a:rPr>
              <a:t>A certain amount of bank deposits must sit with the RBI, earning 0% interest.</a:t>
            </a:r>
            <a:r>
              <a:rPr lang="en-IN" sz="1100" b="0" i="0" dirty="0">
                <a:solidFill>
                  <a:srgbClr val="B8C6D6"/>
                </a:solidFill>
                <a:latin typeface="Segoe UI"/>
              </a:rPr>
              <a:t> Due to increase of CRR from 6% in 1980 to 15% in 1990, current is 3%</a:t>
            </a:r>
            <a:endParaRPr sz="1100" b="0" i="0" dirty="0">
              <a:solidFill>
                <a:srgbClr val="B8C6D6"/>
              </a:solidFill>
              <a:latin typeface="Segoe U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6675120" cy="804672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572000"/>
            <a:ext cx="54864" cy="804672"/>
          </a:xfrm>
          <a:prstGeom prst="rect">
            <a:avLst/>
          </a:prstGeom>
          <a:solidFill>
            <a:srgbClr val="5D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469087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DD38D"/>
                </a:solidFill>
                <a:latin typeface="Segoe UI"/>
              </a:rPr>
              <a:t>SLR - Statutory Liquidity 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010912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A certain amount of deposits must be kept in Government Securities.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32120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650992"/>
            <a:ext cx="6309360" cy="5103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 dirty="0">
                <a:solidFill>
                  <a:srgbClr val="B8C6D6"/>
                </a:solidFill>
                <a:latin typeface="Segoe UI"/>
              </a:rPr>
              <a:t>MODUS OPERANDI: inter-bank Ready Forward deals became a private cash pipeline -</a:t>
            </a:r>
          </a:p>
          <a:p>
            <a:pPr algn="l">
              <a:spcAft>
                <a:spcPts val="100"/>
              </a:spcAft>
            </a:pPr>
            <a:r>
              <a:rPr sz="1050" b="0" i="0" dirty="0">
                <a:solidFill>
                  <a:srgbClr val="B8C6D6"/>
                </a:solidFill>
                <a:latin typeface="Segoe UI"/>
              </a:rPr>
              <a:t>fake Bank Receipts unlocked bank money with no real collateral, and it pumped select stocks.</a:t>
            </a:r>
            <a:endParaRPr lang="en-IN" sz="1050" b="0" i="0" dirty="0">
              <a:solidFill>
                <a:srgbClr val="B8C6D6"/>
              </a:solidFill>
              <a:latin typeface="Segoe UI"/>
            </a:endParaRPr>
          </a:p>
          <a:p>
            <a:pPr algn="l">
              <a:spcAft>
                <a:spcPts val="100"/>
              </a:spcAft>
            </a:pPr>
            <a:r>
              <a:rPr lang="en-IN" sz="1050" dirty="0" err="1">
                <a:solidFill>
                  <a:srgbClr val="B8C6D6"/>
                </a:solidFill>
                <a:latin typeface="Segoe UI"/>
              </a:rPr>
              <a:t>Jankiraman</a:t>
            </a:r>
            <a:r>
              <a:rPr lang="en-IN" sz="1050" dirty="0">
                <a:solidFill>
                  <a:srgbClr val="B8C6D6"/>
                </a:solidFill>
                <a:latin typeface="Segoe UI"/>
              </a:rPr>
              <a:t> Committee’s Report to Parliament, Sucheta Dalal was the journalist</a:t>
            </a:r>
            <a:endParaRPr sz="1050" b="0" i="0" dirty="0">
              <a:solidFill>
                <a:srgbClr val="B8C6D6"/>
              </a:solidFill>
              <a:latin typeface="Segoe UI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FC739EE-6F08-5019-25E1-117A7AA9666B}"/>
              </a:ext>
            </a:extLst>
          </p:cNvPr>
          <p:cNvGrpSpPr/>
          <p:nvPr/>
        </p:nvGrpSpPr>
        <p:grpSpPr>
          <a:xfrm>
            <a:off x="7424928" y="3006547"/>
            <a:ext cx="3081528" cy="2214677"/>
            <a:chOff x="7543800" y="3006547"/>
            <a:chExt cx="3749040" cy="2443277"/>
          </a:xfrm>
        </p:grpSpPr>
        <p:pic>
          <p:nvPicPr>
            <p:cNvPr id="33" name="Picture 32" descr="img_bull.png"/>
            <p:cNvPicPr>
              <a:picLocks noChangeAspect="1"/>
            </p:cNvPicPr>
            <p:nvPr/>
          </p:nvPicPr>
          <p:blipFill>
            <a:blip r:embed="rId2"/>
            <a:srcRect t="11548" b="11548"/>
            <a:stretch>
              <a:fillRect/>
            </a:stretch>
          </p:blipFill>
          <p:spPr>
            <a:xfrm>
              <a:off x="7562088" y="3006547"/>
              <a:ext cx="3730752" cy="2114093"/>
            </a:xfrm>
            <a:prstGeom prst="rect">
              <a:avLst/>
            </a:prstGeom>
            <a:ln w="15875">
              <a:solidFill>
                <a:srgbClr val="F2B137"/>
              </a:solidFill>
            </a:ln>
          </p:spPr>
        </p:pic>
        <p:sp>
          <p:nvSpPr>
            <p:cNvPr id="34" name="Rectangle 33"/>
            <p:cNvSpPr/>
            <p:nvPr/>
          </p:nvSpPr>
          <p:spPr>
            <a:xfrm>
              <a:off x="7543800" y="5120640"/>
              <a:ext cx="3749040" cy="329184"/>
            </a:xfrm>
            <a:prstGeom prst="rect">
              <a:avLst/>
            </a:prstGeom>
            <a:solidFill>
              <a:srgbClr val="000000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680960" y="5204496"/>
              <a:ext cx="3611880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000" b="1" i="0" dirty="0">
                  <a:solidFill>
                    <a:srgbClr val="F2B137"/>
                  </a:solidFill>
                  <a:latin typeface="Segoe UI"/>
                </a:rPr>
                <a:t>"THE BIG BULL"  -  Harshad Mehta, 1992 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804672" y="6323076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1" dirty="0">
                <a:solidFill>
                  <a:srgbClr val="F2B137"/>
                </a:solidFill>
                <a:latin typeface="Segoe UI"/>
              </a:rPr>
              <a:t>A settlement loophole plus zero</a:t>
            </a:r>
          </a:p>
          <a:p>
            <a:pPr algn="l">
              <a:spcAft>
                <a:spcPts val="100"/>
              </a:spcAft>
            </a:pPr>
            <a:r>
              <a:rPr sz="1100" b="0" i="1" dirty="0">
                <a:solidFill>
                  <a:srgbClr val="F2B137"/>
                </a:solidFill>
                <a:latin typeface="Segoe UI"/>
              </a:rPr>
              <a:t>verification equals systemic risk.</a:t>
            </a:r>
          </a:p>
        </p:txBody>
      </p:sp>
      <p:pic>
        <p:nvPicPr>
          <p:cNvPr id="38" name="Picture 37" descr="ch_sensex.png">
            <a:extLst>
              <a:ext uri="{FF2B5EF4-FFF2-40B4-BE49-F238E27FC236}">
                <a16:creationId xmlns:a16="http://schemas.microsoft.com/office/drawing/2014/main" id="{1151FFE8-A2AC-B769-6D3B-F846689A1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54112" y="5271516"/>
            <a:ext cx="420624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685800"/>
          </a:xfrm>
          <a:prstGeom prst="rect">
            <a:avLst/>
          </a:prstGeom>
          <a:solidFill>
            <a:srgbClr val="3D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 dirty="0">
                <a:solidFill>
                  <a:srgbClr val="FFFFFF"/>
                </a:solidFill>
                <a:latin typeface="Segoe UI"/>
              </a:rPr>
              <a:t>Jane Street - The Rs 4</a:t>
            </a:r>
            <a:r>
              <a:rPr lang="en-IN" sz="3000" b="1" i="0" dirty="0">
                <a:solidFill>
                  <a:srgbClr val="FFFFFF"/>
                </a:solidFill>
                <a:latin typeface="Segoe UI"/>
              </a:rPr>
              <a:t>3</a:t>
            </a:r>
            <a:r>
              <a:rPr sz="3000" b="1" i="0" dirty="0">
                <a:solidFill>
                  <a:srgbClr val="FFFFFF"/>
                </a:solidFill>
                <a:latin typeface="Segoe UI"/>
              </a:rPr>
              <a:t>,</a:t>
            </a:r>
            <a:r>
              <a:rPr lang="en-IN" sz="3000" b="1" i="0" dirty="0">
                <a:solidFill>
                  <a:srgbClr val="FFFFFF"/>
                </a:solidFill>
                <a:latin typeface="Segoe UI"/>
              </a:rPr>
              <a:t>289</a:t>
            </a:r>
            <a:r>
              <a:rPr sz="3000" b="1" i="0" dirty="0">
                <a:solidFill>
                  <a:srgbClr val="FFFFFF"/>
                </a:solidFill>
                <a:latin typeface="Segoe UI"/>
              </a:rPr>
              <a:t> Cr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59536"/>
            <a:ext cx="1078992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 dirty="0">
                <a:solidFill>
                  <a:srgbClr val="B8C6D6"/>
                </a:solidFill>
                <a:latin typeface="Segoe UI"/>
              </a:rPr>
              <a:t>NYC-based proprietary H</a:t>
            </a:r>
            <a:r>
              <a:rPr lang="en-IN" sz="1250" b="0" i="0" dirty="0" err="1">
                <a:solidFill>
                  <a:srgbClr val="B8C6D6"/>
                </a:solidFill>
                <a:latin typeface="Segoe UI"/>
              </a:rPr>
              <a:t>igh</a:t>
            </a:r>
            <a:r>
              <a:rPr lang="en-IN" sz="1250" b="0" i="0" dirty="0">
                <a:solidFill>
                  <a:srgbClr val="B8C6D6"/>
                </a:solidFill>
                <a:latin typeface="Segoe UI"/>
              </a:rPr>
              <a:t> </a:t>
            </a:r>
            <a:r>
              <a:rPr sz="1250" b="0" i="0" dirty="0">
                <a:solidFill>
                  <a:srgbClr val="B8C6D6"/>
                </a:solidFill>
                <a:latin typeface="Segoe UI"/>
              </a:rPr>
              <a:t>F</a:t>
            </a:r>
            <a:r>
              <a:rPr lang="en-IN" sz="1250" b="0" i="0" dirty="0" err="1">
                <a:solidFill>
                  <a:srgbClr val="B8C6D6"/>
                </a:solidFill>
                <a:latin typeface="Segoe UI"/>
              </a:rPr>
              <a:t>requency</a:t>
            </a:r>
            <a:r>
              <a:rPr lang="en-IN" sz="1250" b="0" i="0" dirty="0">
                <a:solidFill>
                  <a:srgbClr val="B8C6D6"/>
                </a:solidFill>
                <a:latin typeface="Segoe UI"/>
              </a:rPr>
              <a:t> </a:t>
            </a:r>
            <a:r>
              <a:rPr sz="1250" b="0" i="0" dirty="0">
                <a:solidFill>
                  <a:srgbClr val="B8C6D6"/>
                </a:solidFill>
                <a:latin typeface="Segoe UI"/>
              </a:rPr>
              <a:t>T</a:t>
            </a:r>
            <a:r>
              <a:rPr lang="en-IN" sz="1250" b="0" i="0" dirty="0" err="1">
                <a:solidFill>
                  <a:srgbClr val="B8C6D6"/>
                </a:solidFill>
                <a:latin typeface="Segoe UI"/>
              </a:rPr>
              <a:t>rading</a:t>
            </a:r>
            <a:r>
              <a:rPr sz="1250" b="0" i="0" dirty="0">
                <a:solidFill>
                  <a:srgbClr val="B8C6D6"/>
                </a:solidFill>
                <a:latin typeface="Segoe UI"/>
              </a:rPr>
              <a:t> firm  |  </a:t>
            </a:r>
            <a:r>
              <a:rPr lang="en-IN" sz="1250" b="0" i="0" dirty="0">
                <a:solidFill>
                  <a:srgbClr val="B8C6D6"/>
                </a:solidFill>
                <a:latin typeface="Segoe UI"/>
              </a:rPr>
              <a:t>T</a:t>
            </a:r>
            <a:r>
              <a:rPr sz="1250" b="0" i="0" dirty="0" err="1">
                <a:solidFill>
                  <a:srgbClr val="B8C6D6"/>
                </a:solidFill>
                <a:latin typeface="Segoe UI"/>
              </a:rPr>
              <a:t>rades</a:t>
            </a:r>
            <a:r>
              <a:rPr sz="1250" b="0" i="0" dirty="0">
                <a:solidFill>
                  <a:srgbClr val="B8C6D6"/>
                </a:solidFill>
                <a:latin typeface="Segoe UI"/>
              </a:rPr>
              <a:t> the owner's money  |  </a:t>
            </a:r>
            <a:r>
              <a:rPr lang="en-IN" sz="1250" b="0" i="0" dirty="0">
                <a:solidFill>
                  <a:srgbClr val="B8C6D6"/>
                </a:solidFill>
                <a:latin typeface="Segoe UI"/>
              </a:rPr>
              <a:t>SEBI barred their profits of 4.8k Cr  </a:t>
            </a:r>
            <a:r>
              <a:rPr sz="1250" b="0" i="0" dirty="0">
                <a:solidFill>
                  <a:srgbClr val="B8C6D6"/>
                </a:solidFill>
                <a:latin typeface="Segoe UI"/>
              </a:rPr>
              <a:t>|  main broker: </a:t>
            </a:r>
            <a:r>
              <a:rPr sz="1250" b="0" i="0" dirty="0" err="1">
                <a:solidFill>
                  <a:srgbClr val="B8C6D6"/>
                </a:solidFill>
                <a:latin typeface="Segoe UI"/>
              </a:rPr>
              <a:t>Nuvama</a:t>
            </a:r>
            <a:endParaRPr sz="1250" b="0" i="0" dirty="0">
              <a:solidFill>
                <a:srgbClr val="B8C6D6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55680" cy="18288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17904"/>
            <a:ext cx="2651760" cy="188400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2651760" cy="457200"/>
          </a:xfrm>
          <a:prstGeom prst="roundRect">
            <a:avLst>
              <a:gd name="adj" fmla="val 25000"/>
            </a:avLst>
          </a:prstGeom>
          <a:solidFill>
            <a:srgbClr val="5D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B33"/>
                </a:solidFill>
                <a:latin typeface="Segoe UI"/>
              </a:rPr>
              <a:t>9:15 AM   -   PUMP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331720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Buying of HDFC / ICICI /</a:t>
            </a:r>
          </a:p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Axis / Kotak Bank in bulk.</a:t>
            </a:r>
          </a:p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Open = Low, so retail</a:t>
            </a:r>
          </a:p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starts going long.</a:t>
            </a:r>
            <a:r>
              <a:rPr lang="en-IN" sz="1000" b="0" i="0" dirty="0">
                <a:solidFill>
                  <a:srgbClr val="FFFFFF"/>
                </a:solidFill>
                <a:latin typeface="Segoe UI"/>
              </a:rPr>
              <a:t> In 8 minutes 572 </a:t>
            </a:r>
            <a:r>
              <a:rPr lang="en-IN" sz="1000" b="0" i="0" dirty="0" err="1">
                <a:solidFill>
                  <a:srgbClr val="FFFFFF"/>
                </a:solidFill>
                <a:latin typeface="Segoe UI"/>
              </a:rPr>
              <a:t>cr</a:t>
            </a:r>
            <a:r>
              <a:rPr lang="en-IN" sz="1000" b="0" i="0" dirty="0">
                <a:solidFill>
                  <a:srgbClr val="FFFFFF"/>
                </a:solidFill>
                <a:latin typeface="Segoe UI"/>
              </a:rPr>
              <a:t> stock bought of 6 major BNF.</a:t>
            </a:r>
            <a:endParaRPr sz="10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" y="3132609"/>
            <a:ext cx="2240280" cy="232381"/>
          </a:xfrm>
          <a:prstGeom prst="roundRect">
            <a:avLst>
              <a:gd name="adj" fmla="val 25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 dirty="0">
                <a:solidFill>
                  <a:srgbClr val="5DD38D"/>
                </a:solidFill>
                <a:latin typeface="Segoe UI"/>
              </a:rPr>
              <a:t>Index  50,000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36976" y="2743200"/>
            <a:ext cx="164592" cy="219456"/>
          </a:xfrm>
          <a:prstGeom prst="rightArrow">
            <a:avLst/>
          </a:prstGeom>
          <a:solidFill>
            <a:srgbClr val="B8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9856" y="1517904"/>
            <a:ext cx="2651760" cy="188400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19856" y="1517904"/>
            <a:ext cx="2651760" cy="457200"/>
          </a:xfrm>
          <a:prstGeom prst="roundRect">
            <a:avLst>
              <a:gd name="adj" fmla="val 25000"/>
            </a:avLst>
          </a:prstGeom>
          <a:solidFill>
            <a:srgbClr val="F2B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IN" sz="1200" b="1" dirty="0">
                <a:solidFill>
                  <a:srgbClr val="0B1B33"/>
                </a:solidFill>
                <a:latin typeface="Segoe UI"/>
              </a:rPr>
              <a:t>9:15</a:t>
            </a:r>
            <a:r>
              <a:rPr sz="1200" b="1" dirty="0">
                <a:solidFill>
                  <a:srgbClr val="0B1B33"/>
                </a:solidFill>
                <a:latin typeface="Segoe UI"/>
              </a:rPr>
              <a:t> AM</a:t>
            </a:r>
            <a:r>
              <a:rPr lang="en-IN" sz="1200" b="1" dirty="0">
                <a:solidFill>
                  <a:srgbClr val="0B1B33"/>
                </a:solidFill>
                <a:latin typeface="Segoe UI"/>
              </a:rPr>
              <a:t>- 11:47AM</a:t>
            </a:r>
            <a:r>
              <a:rPr sz="1200" b="1" dirty="0">
                <a:solidFill>
                  <a:srgbClr val="0B1B33"/>
                </a:solidFill>
                <a:latin typeface="Segoe UI"/>
              </a:rPr>
              <a:t>  -  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103120"/>
            <a:ext cx="233172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Index is up. Build big</a:t>
            </a:r>
          </a:p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option positions - buy the</a:t>
            </a:r>
          </a:p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downside lottery (PUT),</a:t>
            </a:r>
          </a:p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sell the upside lottery</a:t>
            </a:r>
          </a:p>
          <a:p>
            <a:pPr algn="l">
              <a:spcAft>
                <a:spcPts val="100"/>
              </a:spcAft>
            </a:pPr>
            <a:r>
              <a:rPr sz="1000" b="0" i="0" dirty="0">
                <a:solidFill>
                  <a:srgbClr val="FFFFFF"/>
                </a:solidFill>
                <a:latin typeface="Segoe UI"/>
              </a:rPr>
              <a:t>(CALL) to retail.</a:t>
            </a:r>
            <a:r>
              <a:rPr lang="en-IN" sz="1000" b="0" i="0" dirty="0">
                <a:solidFill>
                  <a:srgbClr val="FFFFFF"/>
                </a:solidFill>
                <a:latin typeface="Segoe UI"/>
              </a:rPr>
              <a:t> 32000 Cr of option positions held in both cases. </a:t>
            </a:r>
            <a:endParaRPr sz="10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66160" y="3132609"/>
            <a:ext cx="2240280" cy="232382"/>
          </a:xfrm>
          <a:prstGeom prst="roundRect">
            <a:avLst>
              <a:gd name="adj" fmla="val 25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2B137"/>
                </a:solidFill>
                <a:latin typeface="Segoe UI"/>
              </a:rPr>
              <a:t>Index  51,000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08192" y="2743200"/>
            <a:ext cx="164592" cy="219456"/>
          </a:xfrm>
          <a:prstGeom prst="rightArrow">
            <a:avLst/>
          </a:prstGeom>
          <a:solidFill>
            <a:srgbClr val="B8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91072" y="1517904"/>
            <a:ext cx="2651760" cy="188400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91072" y="1517904"/>
            <a:ext cx="2651760" cy="457200"/>
          </a:xfrm>
          <a:prstGeom prst="roundRect">
            <a:avLst>
              <a:gd name="adj" fmla="val 25000"/>
            </a:avLst>
          </a:prstGeom>
          <a:solidFill>
            <a:srgbClr val="3D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IN" sz="1200" b="1" dirty="0">
                <a:solidFill>
                  <a:srgbClr val="0B1B33"/>
                </a:solidFill>
                <a:latin typeface="Segoe UI"/>
              </a:rPr>
              <a:t>11:49AM</a:t>
            </a:r>
            <a:r>
              <a:rPr sz="1200" b="1" dirty="0">
                <a:solidFill>
                  <a:srgbClr val="0B1B33"/>
                </a:solidFill>
                <a:latin typeface="Segoe UI"/>
              </a:rPr>
              <a:t>-2:30</a:t>
            </a:r>
            <a:r>
              <a:rPr lang="en-IN" sz="1200" b="1" dirty="0">
                <a:solidFill>
                  <a:srgbClr val="0B1B33"/>
                </a:solidFill>
                <a:latin typeface="Segoe UI"/>
              </a:rPr>
              <a:t>PM</a:t>
            </a:r>
            <a:r>
              <a:rPr sz="1200" b="1" dirty="0">
                <a:solidFill>
                  <a:srgbClr val="0B1B33"/>
                </a:solidFill>
                <a:latin typeface="Segoe UI"/>
              </a:rPr>
              <a:t>   -   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The position is simply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held. Index option price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runs about 20x, then ~15x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after 1:30 - averaging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near 10x on cheap puts.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3096" y="3132609"/>
            <a:ext cx="2240280" cy="232382"/>
          </a:xfrm>
          <a:prstGeom prst="roundRect">
            <a:avLst>
              <a:gd name="adj" fmla="val 25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3DD6C4"/>
                </a:solidFill>
                <a:latin typeface="Segoe UI"/>
              </a:rPr>
              <a:t>Position held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79408" y="2743200"/>
            <a:ext cx="164592" cy="219456"/>
          </a:xfrm>
          <a:prstGeom prst="rightArrow">
            <a:avLst/>
          </a:prstGeom>
          <a:solidFill>
            <a:srgbClr val="B8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62288" y="1517904"/>
            <a:ext cx="2651760" cy="1865712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62288" y="1517904"/>
            <a:ext cx="2651760" cy="457200"/>
          </a:xfrm>
          <a:prstGeom prst="roundRect">
            <a:avLst>
              <a:gd name="adj" fmla="val 25000"/>
            </a:avLst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B1B33"/>
                </a:solidFill>
                <a:latin typeface="Segoe UI"/>
              </a:rPr>
              <a:t>3:00 PM   -   DUMP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103120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Dump every share bought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in the morning. The index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collapses in minutes, puts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explode 1500-2000% - with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no defined limit.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3132609"/>
            <a:ext cx="2240280" cy="223238"/>
          </a:xfrm>
          <a:prstGeom prst="roundRect">
            <a:avLst>
              <a:gd name="adj" fmla="val 25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E85D5D"/>
                </a:solidFill>
                <a:latin typeface="Segoe UI"/>
              </a:rPr>
              <a:t>Index  49,000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3C0EEFE-DA47-8D84-1B58-E46DFB39A8EF}"/>
              </a:ext>
            </a:extLst>
          </p:cNvPr>
          <p:cNvGrpSpPr/>
          <p:nvPr/>
        </p:nvGrpSpPr>
        <p:grpSpPr>
          <a:xfrm>
            <a:off x="594360" y="3483864"/>
            <a:ext cx="11109960" cy="1417320"/>
            <a:chOff x="548640" y="4343400"/>
            <a:chExt cx="11109960" cy="1417320"/>
          </a:xfrm>
        </p:grpSpPr>
        <p:pic>
          <p:nvPicPr>
            <p:cNvPr id="26" name="Picture 25" descr="img_trading.png"/>
            <p:cNvPicPr>
              <a:picLocks noChangeAspect="1"/>
            </p:cNvPicPr>
            <p:nvPr/>
          </p:nvPicPr>
          <p:blipFill>
            <a:blip r:embed="rId2"/>
            <a:srcRect t="23705" b="23705"/>
            <a:stretch>
              <a:fillRect/>
            </a:stretch>
          </p:blipFill>
          <p:spPr>
            <a:xfrm>
              <a:off x="548640" y="4343400"/>
              <a:ext cx="3657600" cy="1417320"/>
            </a:xfrm>
            <a:prstGeom prst="rect">
              <a:avLst/>
            </a:prstGeom>
            <a:ln w="15875">
              <a:solidFill>
                <a:srgbClr val="3DD6C4"/>
              </a:solidFill>
            </a:ln>
          </p:spPr>
        </p:pic>
        <p:sp>
          <p:nvSpPr>
            <p:cNvPr id="27" name="Rectangle 26"/>
            <p:cNvSpPr/>
            <p:nvPr/>
          </p:nvSpPr>
          <p:spPr>
            <a:xfrm>
              <a:off x="548640" y="5431536"/>
              <a:ext cx="3657600" cy="329184"/>
            </a:xfrm>
            <a:prstGeom prst="rect">
              <a:avLst/>
            </a:prstGeom>
            <a:solidFill>
              <a:srgbClr val="000000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5800" y="5486400"/>
              <a:ext cx="3383280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000" b="1" i="0" dirty="0">
                  <a:solidFill>
                    <a:srgbClr val="3DD6C4"/>
                  </a:solidFill>
                  <a:latin typeface="Segoe UI"/>
                </a:rPr>
                <a:t>ALGO / HFT OPTION-SELLING DESK 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434840" y="4343400"/>
              <a:ext cx="3703320" cy="1417320"/>
            </a:xfrm>
            <a:prstGeom prst="roundRect">
              <a:avLst>
                <a:gd name="adj" fmla="val 8000"/>
              </a:avLst>
            </a:prstGeom>
            <a:solidFill>
              <a:srgbClr val="122B4A"/>
            </a:solidFill>
            <a:ln w="19050">
              <a:solidFill>
                <a:srgbClr val="3DD6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45152" y="4498848"/>
              <a:ext cx="3383280" cy="5029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100"/>
                </a:spcAft>
              </a:pPr>
              <a:r>
                <a:rPr sz="1150" b="1" i="0">
                  <a:solidFill>
                    <a:srgbClr val="3DD6C4"/>
                  </a:solidFill>
                  <a:latin typeface="Segoe UI"/>
                </a:rPr>
                <a:t>RESULT: a slight loss on the</a:t>
              </a:r>
            </a:p>
            <a:p>
              <a:pPr algn="l">
                <a:spcAft>
                  <a:spcPts val="100"/>
                </a:spcAft>
              </a:pPr>
              <a:r>
                <a:rPr sz="1150" b="1" i="0">
                  <a:solidFill>
                    <a:srgbClr val="3DD6C4"/>
                  </a:solidFill>
                  <a:latin typeface="Segoe UI"/>
                </a:rPr>
                <a:t>cash stocks, a huge profit on the options.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645152" y="5138928"/>
              <a:ext cx="3383280" cy="5486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950" b="0" i="0">
                  <a:solidFill>
                    <a:srgbClr val="B8C6D6"/>
                  </a:solidFill>
                  <a:latin typeface="Segoe UI"/>
                </a:rPr>
                <a:t>Pure market manipulation, timed to Thursday</a:t>
              </a:r>
            </a:p>
            <a:p>
              <a:pPr algn="l">
                <a:spcAft>
                  <a:spcPts val="0"/>
                </a:spcAft>
              </a:pPr>
              <a:r>
                <a:rPr sz="950" b="0" i="0">
                  <a:solidFill>
                    <a:srgbClr val="B8C6D6"/>
                  </a:solidFill>
                  <a:latin typeface="Segoe UI"/>
                </a:rPr>
                <a:t>expiry. SEBI began scrutiny of 3 years of</a:t>
              </a:r>
            </a:p>
            <a:p>
              <a:pPr algn="l">
                <a:spcAft>
                  <a:spcPts val="0"/>
                </a:spcAft>
              </a:pPr>
              <a:r>
                <a:rPr sz="950" b="0" i="0">
                  <a:solidFill>
                    <a:srgbClr val="B8C6D6"/>
                  </a:solidFill>
                  <a:latin typeface="Segoe UI"/>
                </a:rPr>
                <a:t>Jane Street derivatives in 2024. Rival: Millennium.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366760" y="4343400"/>
              <a:ext cx="3291840" cy="1417320"/>
            </a:xfrm>
            <a:prstGeom prst="roundRect">
              <a:avLst>
                <a:gd name="adj" fmla="val 8000"/>
              </a:avLst>
            </a:prstGeom>
            <a:solidFill>
              <a:srgbClr val="163052"/>
            </a:solidFill>
            <a:ln w="19050">
              <a:solidFill>
                <a:srgbClr val="F2B1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577072" y="4498848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200" b="1" i="0">
                  <a:solidFill>
                    <a:srgbClr val="F2B137"/>
                  </a:solidFill>
                  <a:latin typeface="Segoe UI"/>
                </a:rPr>
                <a:t>FOR THE INDIAN MARKET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577072" y="4846320"/>
              <a:ext cx="2971800" cy="34881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1050" b="0" i="0" dirty="0">
                  <a:solidFill>
                    <a:srgbClr val="B8C6D6"/>
                  </a:solidFill>
                  <a:latin typeface="Segoe UI"/>
                </a:rPr>
                <a:t>Abnormal gains = pump and dump.</a:t>
              </a:r>
            </a:p>
            <a:p>
              <a:pPr algn="l">
                <a:spcAft>
                  <a:spcPts val="200"/>
                </a:spcAft>
              </a:pPr>
              <a:r>
                <a:rPr lang="en-IN" sz="1050" dirty="0">
                  <a:solidFill>
                    <a:srgbClr val="B8C6D6"/>
                  </a:solidFill>
                  <a:latin typeface="Segoe UI"/>
                </a:rPr>
                <a:t>F&amp;O Trading is very risky</a:t>
              </a:r>
              <a:r>
                <a:rPr sz="1050" b="0" i="0" dirty="0">
                  <a:solidFill>
                    <a:srgbClr val="B8C6D6"/>
                  </a:solidFill>
                  <a:latin typeface="Segoe UI"/>
                </a:rPr>
                <a:t>.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580644" y="5298609"/>
            <a:ext cx="443484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B8C6D6"/>
                </a:solidFill>
                <a:latin typeface="Segoe UI"/>
              </a:rPr>
              <a:t>Structure: 3 group companies routed via Hong Kong and Singapore   |   2023-25: $4-5 B earned in India, almost entirely from options trading.</a:t>
            </a:r>
          </a:p>
        </p:txBody>
      </p:sp>
      <p:pic>
        <p:nvPicPr>
          <p:cNvPr id="37" name="Picture 36" descr="ch_js.png">
            <a:extLst>
              <a:ext uri="{FF2B5EF4-FFF2-40B4-BE49-F238E27FC236}">
                <a16:creationId xmlns:a16="http://schemas.microsoft.com/office/drawing/2014/main" id="{274089D1-5FE8-6BFE-4302-64A942C627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39512" y="4992624"/>
            <a:ext cx="6419088" cy="17348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6858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 dirty="0">
                <a:solidFill>
                  <a:srgbClr val="FFFFFF"/>
                </a:solidFill>
                <a:latin typeface="Segoe UI"/>
              </a:rPr>
              <a:t>The Satyam</a:t>
            </a:r>
            <a:r>
              <a:rPr lang="en-IN" sz="3000" b="1" i="0" dirty="0">
                <a:solidFill>
                  <a:srgbClr val="FFFFFF"/>
                </a:solidFill>
                <a:latin typeface="Segoe UI"/>
              </a:rPr>
              <a:t> Computer</a:t>
            </a:r>
            <a:r>
              <a:rPr sz="3000" b="1" i="0" dirty="0">
                <a:solidFill>
                  <a:srgbClr val="FFFFFF"/>
                </a:solidFill>
                <a:latin typeface="Segoe UI"/>
              </a:rPr>
              <a:t> Scam - 7 January 2009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59536"/>
            <a:ext cx="1078992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 dirty="0">
                <a:solidFill>
                  <a:srgbClr val="B8C6D6"/>
                </a:solidFill>
                <a:latin typeface="Segoe UI"/>
              </a:rPr>
              <a:t>India's E</a:t>
            </a:r>
            <a:r>
              <a:rPr lang="en-IN" sz="1250" dirty="0">
                <a:solidFill>
                  <a:srgbClr val="B8C6D6"/>
                </a:solidFill>
                <a:latin typeface="Segoe UI"/>
              </a:rPr>
              <a:t>lite M</a:t>
            </a:r>
            <a:r>
              <a:rPr sz="1250" b="0" i="0" dirty="0">
                <a:solidFill>
                  <a:srgbClr val="B8C6D6"/>
                </a:solidFill>
                <a:latin typeface="Segoe UI"/>
              </a:rPr>
              <a:t>o</a:t>
            </a:r>
            <a:r>
              <a:rPr lang="en-IN" sz="1250" b="0" i="0" dirty="0" err="1">
                <a:solidFill>
                  <a:srgbClr val="B8C6D6"/>
                </a:solidFill>
                <a:latin typeface="Segoe UI"/>
              </a:rPr>
              <a:t>ney</a:t>
            </a:r>
            <a:r>
              <a:rPr lang="en-IN" sz="1250" b="0" i="0" dirty="0">
                <a:solidFill>
                  <a:srgbClr val="B8C6D6"/>
                </a:solidFill>
                <a:latin typeface="Segoe UI"/>
              </a:rPr>
              <a:t> Laundering Scam</a:t>
            </a:r>
            <a:r>
              <a:rPr sz="1250" b="0" i="0" dirty="0">
                <a:solidFill>
                  <a:srgbClr val="B8C6D6"/>
                </a:solidFill>
                <a:latin typeface="Segoe UI"/>
              </a:rPr>
              <a:t>: Rs </a:t>
            </a:r>
            <a:r>
              <a:rPr lang="en-IN" sz="1250" b="0" i="0" dirty="0">
                <a:solidFill>
                  <a:srgbClr val="B8C6D6"/>
                </a:solidFill>
                <a:latin typeface="Segoe UI"/>
              </a:rPr>
              <a:t>7</a:t>
            </a:r>
            <a:r>
              <a:rPr sz="1250" b="0" i="0" dirty="0">
                <a:solidFill>
                  <a:srgbClr val="B8C6D6"/>
                </a:solidFill>
                <a:latin typeface="Segoe UI"/>
              </a:rPr>
              <a:t>,000 Cr of overstated financial statements</a:t>
            </a:r>
            <a:r>
              <a:rPr lang="en-IN" sz="1250" b="0" i="0" dirty="0">
                <a:solidFill>
                  <a:srgbClr val="B8C6D6"/>
                </a:solidFill>
                <a:latin typeface="Segoe UI"/>
              </a:rPr>
              <a:t>. PwC was the main auditor and SEBI banned them for 2 years</a:t>
            </a:r>
            <a:endParaRPr sz="1250" b="0" i="0" dirty="0">
              <a:solidFill>
                <a:srgbClr val="B8C6D6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55680" cy="18288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1089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 dirty="0">
                <a:solidFill>
                  <a:srgbClr val="E85D5D"/>
                </a:solidFill>
                <a:latin typeface="Segoe UI"/>
              </a:rPr>
              <a:t>Rs </a:t>
            </a:r>
            <a:r>
              <a:rPr lang="en-IN" sz="2100" b="1" i="0" dirty="0">
                <a:solidFill>
                  <a:srgbClr val="E85D5D"/>
                </a:solidFill>
                <a:latin typeface="Segoe UI"/>
              </a:rPr>
              <a:t>7</a:t>
            </a:r>
            <a:r>
              <a:rPr sz="2100" b="1" i="0" dirty="0">
                <a:solidFill>
                  <a:srgbClr val="E85D5D"/>
                </a:solidFill>
                <a:latin typeface="Segoe UI"/>
              </a:rPr>
              <a:t>,000 Cr</a:t>
            </a:r>
            <a:r>
              <a:rPr lang="en-IN" sz="2100" b="1" i="0" dirty="0">
                <a:solidFill>
                  <a:srgbClr val="E85D5D"/>
                </a:solidFill>
                <a:latin typeface="Segoe UI"/>
              </a:rPr>
              <a:t>+</a:t>
            </a:r>
            <a:endParaRPr sz="2100" b="1" i="0" dirty="0">
              <a:solidFill>
                <a:srgbClr val="E85D5D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22311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Scale of the fraud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55448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71907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2B137"/>
                </a:solidFill>
                <a:latin typeface="Segoe UI"/>
              </a:rPr>
              <a:t>7 Jan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2311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The confession letter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171907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5DD38D"/>
                </a:solidFill>
                <a:latin typeface="Segoe UI"/>
              </a:rPr>
              <a:t>Tech Mahindra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311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8C6D6"/>
                </a:solidFill>
                <a:latin typeface="Segoe UI"/>
              </a:rPr>
              <a:t>Acquired and revived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52928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5D5D"/>
                </a:solidFill>
                <a:latin typeface="Segoe UI"/>
              </a:rPr>
              <a:t>HOW IT WAS 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73552"/>
            <a:ext cx="5852160" cy="54864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3401568"/>
            <a:ext cx="292608" cy="292608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3814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Overstating the financial statements, year after year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5852160" cy="54864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4059935"/>
            <a:ext cx="292608" cy="292608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96511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Fake sales entries and fabricated invoices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90288"/>
            <a:ext cx="5852160" cy="548640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20" y="4718303"/>
            <a:ext cx="292608" cy="292608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54879"/>
            <a:ext cx="51206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n-IN" sz="1200" dirty="0">
                <a:solidFill>
                  <a:srgbClr val="FFFFFF"/>
                </a:solidFill>
                <a:latin typeface="Segoe UI"/>
              </a:rPr>
              <a:t>A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udit</a:t>
            </a:r>
            <a:r>
              <a:rPr lang="en-IN" sz="1200" b="0" i="0" dirty="0">
                <a:solidFill>
                  <a:srgbClr val="FFFFFF"/>
                </a:solidFill>
                <a:latin typeface="Segoe UI"/>
              </a:rPr>
              <a:t> and Internal Control Failures</a:t>
            </a:r>
            <a:endParaRPr sz="1200" b="0" i="0" dirty="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29" name="Picture 28" descr="img_satyam.png"/>
          <p:cNvPicPr>
            <a:picLocks noChangeAspect="1"/>
          </p:cNvPicPr>
          <p:nvPr/>
        </p:nvPicPr>
        <p:blipFill>
          <a:blip r:embed="rId2"/>
          <a:srcRect t="26753" b="26753"/>
          <a:stretch>
            <a:fillRect/>
          </a:stretch>
        </p:blipFill>
        <p:spPr>
          <a:xfrm>
            <a:off x="6720840" y="2852928"/>
            <a:ext cx="4937760" cy="1691640"/>
          </a:xfrm>
          <a:prstGeom prst="rect">
            <a:avLst/>
          </a:prstGeom>
          <a:ln w="15875">
            <a:solidFill>
              <a:srgbClr val="5DD38D"/>
            </a:solidFill>
          </a:ln>
        </p:spPr>
      </p:pic>
      <p:sp>
        <p:nvSpPr>
          <p:cNvPr id="30" name="Rectangle 29"/>
          <p:cNvSpPr/>
          <p:nvPr/>
        </p:nvSpPr>
        <p:spPr>
          <a:xfrm>
            <a:off x="6720840" y="4215384"/>
            <a:ext cx="4937760" cy="329184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4270248"/>
            <a:ext cx="46634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5DD38D"/>
                </a:solidFill>
                <a:latin typeface="Segoe UI"/>
              </a:rPr>
              <a:t>SATYAM WAS ACQUIRED BY TECH MAHINDRA IN 2009 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4681728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9050">
            <a:solidFill>
              <a:srgbClr val="E8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67728" y="482803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5D5D"/>
                </a:solidFill>
                <a:latin typeface="Segoe UI"/>
              </a:rPr>
              <a:t>"IT WAS LIKE RIDING A TIGER"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5175504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8C6D6"/>
                </a:solidFill>
                <a:latin typeface="Segoe UI"/>
              </a:rPr>
              <a:t>Once the fraud started, getting off meant being eaten -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8C6D6"/>
                </a:solidFill>
                <a:latin typeface="Segoe UI"/>
              </a:rPr>
              <a:t>every fake quarter had to be covered by a bigger 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96711" y="5986270"/>
            <a:ext cx="5943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 dirty="0">
                <a:solidFill>
                  <a:srgbClr val="F2B137"/>
                </a:solidFill>
                <a:latin typeface="Segoe UI"/>
              </a:rPr>
              <a:t>Takeaway: audit quality is a retail investor's last line of </a:t>
            </a:r>
            <a:r>
              <a:rPr sz="1200" b="0" i="1" dirty="0" err="1">
                <a:solidFill>
                  <a:srgbClr val="F2B137"/>
                </a:solidFill>
                <a:latin typeface="Segoe UI"/>
              </a:rPr>
              <a:t>defence</a:t>
            </a:r>
            <a:r>
              <a:rPr sz="1200" b="0" i="1" dirty="0">
                <a:solidFill>
                  <a:srgbClr val="F2B137"/>
                </a:solidFill>
                <a:latin typeface="Segoe UI"/>
              </a:rPr>
              <a:t> - the same pattern echoed later in the BYJU'S crisis.</a:t>
            </a:r>
          </a:p>
        </p:txBody>
      </p:sp>
      <p:pic>
        <p:nvPicPr>
          <p:cNvPr id="37" name="Picture 36" descr="ch_satyam.png">
            <a:extLst>
              <a:ext uri="{FF2B5EF4-FFF2-40B4-BE49-F238E27FC236}">
                <a16:creationId xmlns:a16="http://schemas.microsoft.com/office/drawing/2014/main" id="{09E444C2-A2C0-D5D2-C31C-E81F9034F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5303519"/>
            <a:ext cx="493776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661</Words>
  <Application>Microsoft Office PowerPoint</Application>
  <PresentationFormat>Widescreen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Subham Agrawal (B23CI1038)</cp:lastModifiedBy>
  <cp:revision>4</cp:revision>
  <dcterms:created xsi:type="dcterms:W3CDTF">2013-01-27T09:14:16Z</dcterms:created>
  <dcterms:modified xsi:type="dcterms:W3CDTF">2026-08-20T11:48:24Z</dcterms:modified>
  <cp:category/>
</cp:coreProperties>
</file>